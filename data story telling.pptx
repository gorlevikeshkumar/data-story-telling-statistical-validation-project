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0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FE266-CD7E-4CCE-9A19-6594FD88F12F}" v="3" dt="2026-07-11T18:12:42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hanyalingala3@gmail.com" userId="6c0f7e78c1fe284b" providerId="LiveId" clId="{D4EA94C7-E258-4E06-93E6-EF0FF0BA8DCC}"/>
    <pc:docChg chg="undo custSel modSld">
      <pc:chgData name="chaithanyalingala3@gmail.com" userId="6c0f7e78c1fe284b" providerId="LiveId" clId="{D4EA94C7-E258-4E06-93E6-EF0FF0BA8DCC}" dt="2026-07-11T18:13:25.476" v="46" actId="12"/>
      <pc:docMkLst>
        <pc:docMk/>
      </pc:docMkLst>
      <pc:sldChg chg="addSp modSp mod">
        <pc:chgData name="chaithanyalingala3@gmail.com" userId="6c0f7e78c1fe284b" providerId="LiveId" clId="{D4EA94C7-E258-4E06-93E6-EF0FF0BA8DCC}" dt="2026-07-11T18:13:25.476" v="46" actId="12"/>
        <pc:sldMkLst>
          <pc:docMk/>
          <pc:sldMk cId="1375382439" sldId="265"/>
        </pc:sldMkLst>
        <pc:spChg chg="mod">
          <ac:chgData name="chaithanyalingala3@gmail.com" userId="6c0f7e78c1fe284b" providerId="LiveId" clId="{D4EA94C7-E258-4E06-93E6-EF0FF0BA8DCC}" dt="2026-07-11T18:13:25.476" v="46" actId="12"/>
          <ac:spMkLst>
            <pc:docMk/>
            <pc:sldMk cId="1375382439" sldId="265"/>
            <ac:spMk id="3" creationId="{36641D6D-0ABC-54D9-B679-5B58230E8E8F}"/>
          </ac:spMkLst>
        </pc:spChg>
        <pc:picChg chg="add mod">
          <ac:chgData name="chaithanyalingala3@gmail.com" userId="6c0f7e78c1fe284b" providerId="LiveId" clId="{D4EA94C7-E258-4E06-93E6-EF0FF0BA8DCC}" dt="2026-07-11T18:09:24.190" v="7" actId="14100"/>
          <ac:picMkLst>
            <pc:docMk/>
            <pc:sldMk cId="1375382439" sldId="265"/>
            <ac:picMk id="5" creationId="{EB73ABB2-949D-27F2-A380-58FE0E98D7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79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7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19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96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50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26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18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84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53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92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83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65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402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04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514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376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8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0797039-EE72-4C54-9859-199B8AF18CF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EEDE91-4665-46C9-B775-E512C2537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70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0" r:id="rId1"/>
    <p:sldLayoutId id="2147484511" r:id="rId2"/>
    <p:sldLayoutId id="2147484512" r:id="rId3"/>
    <p:sldLayoutId id="2147484513" r:id="rId4"/>
    <p:sldLayoutId id="2147484514" r:id="rId5"/>
    <p:sldLayoutId id="2147484515" r:id="rId6"/>
    <p:sldLayoutId id="2147484516" r:id="rId7"/>
    <p:sldLayoutId id="2147484517" r:id="rId8"/>
    <p:sldLayoutId id="2147484518" r:id="rId9"/>
    <p:sldLayoutId id="2147484519" r:id="rId10"/>
    <p:sldLayoutId id="2147484520" r:id="rId11"/>
    <p:sldLayoutId id="2147484521" r:id="rId12"/>
    <p:sldLayoutId id="2147484522" r:id="rId13"/>
    <p:sldLayoutId id="2147484523" r:id="rId14"/>
    <p:sldLayoutId id="2147484524" r:id="rId15"/>
    <p:sldLayoutId id="2147484525" r:id="rId16"/>
    <p:sldLayoutId id="214748452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0038-FB85-4AAE-AB1E-5AC2E00AB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0976" y="1416818"/>
            <a:ext cx="6631912" cy="286378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TASK-4 Data Storytelling &amp;       </a:t>
            </a:r>
            <a:r>
              <a:rPr lang="en-IN" sz="54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StatisticalValidation</a:t>
            </a:r>
            <a:br>
              <a:rPr lang="en-IN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endParaRPr lang="en-IN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CF54A-7050-FE6D-A3EA-3EA4FF7B1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11982" y="3763111"/>
            <a:ext cx="12125010" cy="2863779"/>
          </a:xfrm>
        </p:spPr>
        <p:txBody>
          <a:bodyPr>
            <a:normAutofit lnSpcReduction="10000"/>
          </a:bodyPr>
          <a:lstStyle/>
          <a:p>
            <a:r>
              <a:rPr lang="en-IN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 Sales Performance Analysis</a:t>
            </a:r>
            <a:endParaRPr lang="en-IN" sz="4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IN" sz="2000" b="1" dirty="0"/>
              <a:t>                                                                                                              Prepared By</a:t>
            </a:r>
          </a:p>
          <a:p>
            <a:r>
              <a:rPr lang="en-IN" sz="2000" b="1" dirty="0"/>
              <a:t>                                                                                                                            </a:t>
            </a:r>
            <a:r>
              <a:rPr lang="en-IN" sz="2000" b="1" dirty="0" err="1"/>
              <a:t>Gorle</a:t>
            </a:r>
            <a:r>
              <a:rPr lang="en-IN" sz="2000" b="1" dirty="0"/>
              <a:t> Vikesh </a:t>
            </a:r>
            <a:r>
              <a:rPr lang="en-IN" sz="2000" b="1" dirty="0" err="1"/>
              <a:t>kumar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9361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5C27-EEDF-E485-AACF-0CA6D515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87" y="624110"/>
            <a:ext cx="11424226" cy="1280890"/>
          </a:xfrm>
        </p:spPr>
        <p:txBody>
          <a:bodyPr/>
          <a:lstStyle/>
          <a:p>
            <a:r>
              <a:rPr lang="en-IN" dirty="0">
                <a:latin typeface="+mn-lt"/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E871-A2A8-E3A6-A1AC-C92434B3E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962" y="2461846"/>
            <a:ext cx="8832502" cy="3407248"/>
          </a:xfrm>
        </p:spPr>
        <p:txBody>
          <a:bodyPr>
            <a:normAutofit/>
          </a:bodyPr>
          <a:lstStyle/>
          <a:p>
            <a:r>
              <a:rPr lang="en-IN" dirty="0"/>
              <a:t>The objective of this analysis is to evaluate the company's sales performance across different regions, product categories, and customer segments. The analysis aims to identify high-performing business areas, understand profit distribution, and provide actionable recommendations that support data-driven decision-making and improve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50697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336A-9913-47B5-EA7F-72859D35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1BBC-1307-DF9D-396D-5191BD532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Dataset Includes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Order Details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Sales Amount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Profit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Discount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Product Category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Customer Segment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Region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Monthly Sales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8FCF9-15D9-D5AC-8C08-60622640C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902" y="2556933"/>
            <a:ext cx="6344695" cy="310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4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AB97-EB46-C9DD-4326-27CD3B587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7750-FC82-4D0B-EB44-124D297B8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02040"/>
            <a:ext cx="5323617" cy="3657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Dashboard Components</a:t>
            </a:r>
          </a:p>
          <a:p>
            <a:r>
              <a:rPr lang="en-IN" dirty="0"/>
              <a:t>Sales by Region </a:t>
            </a:r>
          </a:p>
          <a:p>
            <a:r>
              <a:rPr lang="en-IN" dirty="0"/>
              <a:t>Sales by Product Category </a:t>
            </a:r>
          </a:p>
          <a:p>
            <a:r>
              <a:rPr lang="en-IN" dirty="0"/>
              <a:t>Sales by Customer Segment </a:t>
            </a:r>
          </a:p>
          <a:p>
            <a:r>
              <a:rPr lang="en-IN" dirty="0"/>
              <a:t>Profit by Region </a:t>
            </a:r>
          </a:p>
          <a:p>
            <a:r>
              <a:rPr lang="en-IN" dirty="0"/>
              <a:t>Profit by Category </a:t>
            </a:r>
          </a:p>
          <a:p>
            <a:r>
              <a:rPr lang="en-IN" dirty="0"/>
              <a:t>Monthly Sales Analysis </a:t>
            </a:r>
          </a:p>
          <a:p>
            <a:r>
              <a:rPr lang="en-IN" dirty="0"/>
              <a:t>Discount vs Profit Analysis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C6DE5-2B21-8C46-AD6D-B1D984644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897" y="2502040"/>
            <a:ext cx="501412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7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D851-9D7E-91C8-F9D7-A3F82E61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Regional Sales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0FC73-375E-C3E1-46EC-AB567FD83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800599" cy="3318936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Regional Performance Analysis</a:t>
            </a:r>
          </a:p>
          <a:p>
            <a:r>
              <a:rPr lang="en-IN" dirty="0"/>
              <a:t>The dashboard indicates that the East region generated the highest sales and profit among all regions.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Key Findings</a:t>
            </a:r>
          </a:p>
          <a:p>
            <a:r>
              <a:rPr lang="en-IN" dirty="0"/>
              <a:t>East recorded the highest sales (₹3.50 Lakhs). </a:t>
            </a:r>
          </a:p>
          <a:p>
            <a:r>
              <a:rPr lang="en-IN" dirty="0"/>
              <a:t>West ranked second in sales. </a:t>
            </a:r>
          </a:p>
          <a:p>
            <a:r>
              <a:rPr lang="en-IN" dirty="0"/>
              <a:t>South and North generated comparatively lower sales. </a:t>
            </a:r>
          </a:p>
          <a:p>
            <a:r>
              <a:rPr lang="en-IN" dirty="0"/>
              <a:t>East also achieved the highest profit.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Business Insight</a:t>
            </a:r>
          </a:p>
          <a:p>
            <a:r>
              <a:rPr lang="en-IN" dirty="0"/>
              <a:t>The East region is the company's strongest market and should continue receiving strategic investment, while North and South require additional promotional efforts to increase sales.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C72F8-AF97-B1EC-5AD2-856817C5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075" y="2556931"/>
            <a:ext cx="4800598" cy="30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8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B1A4-CDE1-2E10-C281-A410BB2B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Category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54976-1ECF-5C31-A5F6-D1F576C3D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700" y="2426303"/>
            <a:ext cx="5312230" cy="331893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Findings</a:t>
            </a:r>
          </a:p>
          <a:p>
            <a:r>
              <a:rPr lang="en-IN" dirty="0"/>
              <a:t>Furniture generated the highest sales. </a:t>
            </a:r>
          </a:p>
          <a:p>
            <a:r>
              <a:rPr lang="en-IN" dirty="0"/>
              <a:t>Technology ranked second in sales. </a:t>
            </a:r>
          </a:p>
          <a:p>
            <a:r>
              <a:rPr lang="en-IN" dirty="0"/>
              <a:t>Office Supplies showed consistent performance. </a:t>
            </a:r>
          </a:p>
          <a:p>
            <a:r>
              <a:rPr lang="en-IN" dirty="0"/>
              <a:t>Furniture also produced the highest profit.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Business Insight</a:t>
            </a:r>
          </a:p>
          <a:p>
            <a:r>
              <a:rPr lang="en-IN" dirty="0"/>
              <a:t>Furniture is the company's most profitable category and should remain a key focus for inventory planning and marketing campaigns.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2EC18-EA8F-33BA-1C89-F4B65032A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711" y="2671422"/>
            <a:ext cx="5273589" cy="307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0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B41C-AD6C-2639-A5D4-DFCB3E4A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Customer Segment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8A97E-6A1F-2E9D-1E6B-1EB841256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296318" cy="3318936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Customer Segment Analysis</a:t>
            </a:r>
          </a:p>
          <a:p>
            <a:r>
              <a:rPr lang="en-IN" dirty="0"/>
              <a:t>The business serves three major customer segments.</a:t>
            </a:r>
          </a:p>
          <a:p>
            <a:r>
              <a:rPr lang="en-IN" b="1" dirty="0"/>
              <a:t>Segment Contribution</a:t>
            </a:r>
          </a:p>
          <a:p>
            <a:r>
              <a:rPr lang="en-IN" dirty="0"/>
              <a:t>Home Office – </a:t>
            </a:r>
            <a:r>
              <a:rPr lang="en-IN" b="1" dirty="0"/>
              <a:t>34.5%</a:t>
            </a:r>
            <a:r>
              <a:rPr lang="en-IN" dirty="0"/>
              <a:t> </a:t>
            </a:r>
          </a:p>
          <a:p>
            <a:r>
              <a:rPr lang="en-IN" dirty="0"/>
              <a:t>Corporate – </a:t>
            </a:r>
            <a:r>
              <a:rPr lang="en-IN" b="1" dirty="0"/>
              <a:t>32.9%</a:t>
            </a:r>
            <a:r>
              <a:rPr lang="en-IN" dirty="0"/>
              <a:t> </a:t>
            </a:r>
          </a:p>
          <a:p>
            <a:r>
              <a:rPr lang="en-IN" dirty="0"/>
              <a:t>Consumer – </a:t>
            </a:r>
            <a:r>
              <a:rPr lang="en-IN" b="1" dirty="0"/>
              <a:t>32.6%</a:t>
            </a:r>
            <a:r>
              <a:rPr lang="en-IN" dirty="0"/>
              <a:t> </a:t>
            </a:r>
          </a:p>
          <a:p>
            <a:r>
              <a:rPr lang="en-IN" b="1" dirty="0"/>
              <a:t>Business Insight</a:t>
            </a:r>
          </a:p>
          <a:p>
            <a:r>
              <a:rPr lang="en-IN" dirty="0"/>
              <a:t>Sales are evenly distributed across all customer segments. This balanced customer base reduces dependency on a single market segment and creates opportunities for growth across multiple customer groups.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D9D9F-5554-2AAF-5D7E-1FD3236CC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719" y="2666935"/>
            <a:ext cx="4079629" cy="280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0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8ABE-0305-2AE1-150C-EE95B7AD2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Monthly Sales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76B29-6B9C-6925-0F91-71238F94E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0"/>
            <a:ext cx="4874287" cy="3318938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Monthly Sales Trend</a:t>
            </a:r>
          </a:p>
          <a:p>
            <a:r>
              <a:rPr lang="en-IN" dirty="0"/>
              <a:t>Monthly sales analysis highlights seasonal variations throughout the year.</a:t>
            </a:r>
          </a:p>
          <a:p>
            <a:r>
              <a:rPr lang="en-IN" b="1" dirty="0"/>
              <a:t>Highest Sales Months</a:t>
            </a:r>
          </a:p>
          <a:p>
            <a:r>
              <a:rPr lang="en-IN" dirty="0"/>
              <a:t>March </a:t>
            </a:r>
          </a:p>
          <a:p>
            <a:r>
              <a:rPr lang="en-IN" dirty="0"/>
              <a:t>April </a:t>
            </a:r>
          </a:p>
          <a:p>
            <a:r>
              <a:rPr lang="en-IN" dirty="0"/>
              <a:t>May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Lowest Sales Months</a:t>
            </a:r>
          </a:p>
          <a:p>
            <a:r>
              <a:rPr lang="en-IN" dirty="0"/>
              <a:t>July </a:t>
            </a:r>
          </a:p>
          <a:p>
            <a:r>
              <a:rPr lang="en-IN" dirty="0"/>
              <a:t>August </a:t>
            </a:r>
          </a:p>
          <a:p>
            <a:r>
              <a:rPr lang="en-IN" dirty="0"/>
              <a:t>September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Business Insight</a:t>
            </a:r>
          </a:p>
          <a:p>
            <a:r>
              <a:rPr lang="en-IN" dirty="0"/>
              <a:t>The business experiences seasonal fluctuations in demand. Marketing campaigns and promotional offers should be planned during low-performing months to improve sales consistency.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470C6-3D2F-EEC4-3BCA-0800DC749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88" y="2324003"/>
            <a:ext cx="4726910" cy="33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7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BD5D-E08B-A5D0-9A6D-9708B5AA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Hypothesis Testing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1D6D-0ABC-54D9-B679-5B58230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530" y="2601032"/>
            <a:ext cx="5055157" cy="3076288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4200" b="1" dirty="0"/>
              <a:t>Null Hypothesis (H₀)</a:t>
            </a:r>
          </a:p>
          <a:p>
            <a:r>
              <a:rPr lang="en-IN" sz="4200" dirty="0"/>
              <a:t>There is no statistically significant difference between the average monthly sales and the business target.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200" b="1" dirty="0"/>
              <a:t>Alternative Hypothesis (H₁)</a:t>
            </a:r>
          </a:p>
          <a:p>
            <a:r>
              <a:rPr lang="en-IN" sz="4200" dirty="0"/>
              <a:t>There is a statistically significant difference between the average monthly sales and the business target.</a:t>
            </a:r>
          </a:p>
          <a:p>
            <a:r>
              <a:rPr lang="en-IN" sz="4200" dirty="0"/>
              <a:t>Statistical Test Used</a:t>
            </a:r>
          </a:p>
          <a:p>
            <a:r>
              <a:rPr lang="en-IN" sz="4200" dirty="0"/>
              <a:t>One-Sample T-Test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200" b="1" dirty="0"/>
              <a:t>Decision Rule</a:t>
            </a:r>
          </a:p>
          <a:p>
            <a:r>
              <a:rPr lang="en-IN" sz="4200" dirty="0"/>
              <a:t>If p-value &lt; 0.05, reject the Null Hypothesis. </a:t>
            </a:r>
          </a:p>
          <a:p>
            <a:r>
              <a:rPr lang="en-IN" sz="4200" dirty="0"/>
              <a:t>If p-value ≥ 0.05, fail to reject the Null Hypothesis.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200" b="1" dirty="0"/>
              <a:t>Graph Interpretation</a:t>
            </a:r>
          </a:p>
          <a:p>
            <a:r>
              <a:rPr lang="en-IN" sz="4200" dirty="0"/>
              <a:t>Monthly sales </a:t>
            </a:r>
            <a:r>
              <a:rPr lang="en-IN" sz="4200" b="1" dirty="0"/>
              <a:t>exceeded the business target</a:t>
            </a:r>
            <a:r>
              <a:rPr lang="en-IN" sz="4200" dirty="0"/>
              <a:t> from </a:t>
            </a:r>
            <a:r>
              <a:rPr lang="en-IN" sz="4200" b="1" dirty="0"/>
              <a:t>January to May</a:t>
            </a:r>
            <a:r>
              <a:rPr lang="en-IN" sz="4200" dirty="0"/>
              <a:t> and again in </a:t>
            </a:r>
            <a:r>
              <a:rPr lang="en-IN" sz="4200" b="1" dirty="0"/>
              <a:t>October</a:t>
            </a:r>
            <a:r>
              <a:rPr lang="en-IN" sz="4200" dirty="0"/>
              <a:t>.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3ABB2-949D-27F2-A380-58FE0E98D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58" y="2471894"/>
            <a:ext cx="4451420" cy="357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82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582F-DED5-D93F-10BB-38D91D8D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BB7B7-CB3B-63FC-1E27-333D52991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813619" cy="3318936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Based on the analysis, the following business strategies are recommended:</a:t>
            </a:r>
          </a:p>
          <a:p>
            <a:r>
              <a:rPr lang="en-IN" dirty="0"/>
              <a:t>Increase investment in the East region to maximize revenue. </a:t>
            </a:r>
          </a:p>
          <a:p>
            <a:r>
              <a:rPr lang="en-IN" dirty="0"/>
              <a:t>Strengthen marketing campaigns in North and South regions. </a:t>
            </a:r>
          </a:p>
          <a:p>
            <a:r>
              <a:rPr lang="en-IN" dirty="0"/>
              <a:t>Expand the Furniture product line due to its high profitability. </a:t>
            </a:r>
          </a:p>
          <a:p>
            <a:r>
              <a:rPr lang="en-IN" dirty="0"/>
              <a:t>Improve inventory management for high-demand products. </a:t>
            </a:r>
          </a:p>
          <a:p>
            <a:r>
              <a:rPr lang="en-IN" dirty="0"/>
              <a:t>Launch promotional campaigns during low-sales months. </a:t>
            </a:r>
          </a:p>
          <a:p>
            <a:r>
              <a:rPr lang="en-IN" dirty="0"/>
              <a:t>Optimize discount strategies to improve profit margins. </a:t>
            </a:r>
          </a:p>
          <a:p>
            <a:r>
              <a:rPr lang="en-IN" dirty="0"/>
              <a:t>Reward loyal customers to improve customer retention. </a:t>
            </a:r>
          </a:p>
          <a:p>
            <a:endParaRPr lang="en-IN" dirty="0"/>
          </a:p>
        </p:txBody>
      </p:sp>
      <p:pic>
        <p:nvPicPr>
          <p:cNvPr id="4" name="Picture 3" descr="Business analytics success concept. Vector illustration">
            <a:extLst>
              <a:ext uri="{FF2B5EF4-FFF2-40B4-BE49-F238E27FC236}">
                <a16:creationId xmlns:a16="http://schemas.microsoft.com/office/drawing/2014/main" id="{716B56FB-9733-8281-C09B-2CACA32CF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749" y="2907601"/>
            <a:ext cx="4134900" cy="261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80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7920-DED6-18F6-B086-0A8B23CE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2B65D-13BA-3C0D-0627-CB1A4912C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71410"/>
            <a:ext cx="5534632" cy="3497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sales data analysis provided valuable business insights by identifying top-performing regions, product categories, and customer segments. These findings support data-driven decision-making and highlight opportunities to improve sales, profitability, and overall business growth through targeted strategies.</a:t>
            </a:r>
          </a:p>
        </p:txBody>
      </p:sp>
      <p:pic>
        <p:nvPicPr>
          <p:cNvPr id="5" name="Picture 4" descr="Bot Verification">
            <a:extLst>
              <a:ext uri="{FF2B5EF4-FFF2-40B4-BE49-F238E27FC236}">
                <a16:creationId xmlns:a16="http://schemas.microsoft.com/office/drawing/2014/main" id="{1415AB1C-F45A-DDB5-2112-A6B73A46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14" y="2597099"/>
            <a:ext cx="3570014" cy="327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36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435D4-61D2-D2D9-4708-7A35505A1E0F}"/>
              </a:ext>
            </a:extLst>
          </p:cNvPr>
          <p:cNvSpPr txBox="1"/>
          <p:nvPr/>
        </p:nvSpPr>
        <p:spPr>
          <a:xfrm>
            <a:off x="3607358" y="2598003"/>
            <a:ext cx="39891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48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43355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</TotalTime>
  <Words>581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Angsana New</vt:lpstr>
      <vt:lpstr>Arial</vt:lpstr>
      <vt:lpstr>Garamond</vt:lpstr>
      <vt:lpstr>Wingdings</vt:lpstr>
      <vt:lpstr>Organic</vt:lpstr>
      <vt:lpstr>    TASK-4 Data Storytelling &amp;       StatisticalValidation </vt:lpstr>
      <vt:lpstr>Business Objective</vt:lpstr>
      <vt:lpstr>Dataset Overview</vt:lpstr>
      <vt:lpstr>Dashboard Overview</vt:lpstr>
      <vt:lpstr>Regional Sales Analysis</vt:lpstr>
      <vt:lpstr>Product Category Analysis</vt:lpstr>
      <vt:lpstr>Customer Segment Analysis </vt:lpstr>
      <vt:lpstr>Monthly Sales Analysis </vt:lpstr>
      <vt:lpstr>Hypothesis Testing </vt:lpstr>
      <vt:lpstr>Business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chaithanyalingala3@gmail.com</dc:creator>
  <cp:lastModifiedBy>chaithanyalingala3@gmail.com</cp:lastModifiedBy>
  <cp:revision>1</cp:revision>
  <dcterms:created xsi:type="dcterms:W3CDTF">2026-07-11T17:01:23Z</dcterms:created>
  <dcterms:modified xsi:type="dcterms:W3CDTF">2026-07-11T18:13:27Z</dcterms:modified>
</cp:coreProperties>
</file>